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9" r:id="rId6"/>
    <p:sldId id="2147470494" r:id="rId7"/>
    <p:sldId id="2147470498" r:id="rId8"/>
    <p:sldId id="2147470500" r:id="rId9"/>
    <p:sldId id="2147470504" r:id="rId10"/>
    <p:sldId id="2147470507" r:id="rId11"/>
    <p:sldId id="21474705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hq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tiangolo.com/" TargetMode="External"/><Relationship Id="rId7" Type="http://schemas.openxmlformats.org/officeDocument/2006/relationships/hyperlink" Target="https://pyjwt.readthedocs.io/" TargetMode="External"/><Relationship Id="rId2" Type="http://schemas.openxmlformats.org/officeDocument/2006/relationships/hyperlink" Target="https://docs.langchain.com/oss/python/langgraph/overview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cikit-learn.org/stable/user_guide.html" TargetMode="External"/><Relationship Id="rId5" Type="http://schemas.openxmlformats.org/officeDocument/2006/relationships/hyperlink" Target="https://cloud.google.com/run/docs" TargetMode="External"/><Relationship Id="rId4" Type="http://schemas.openxmlformats.org/officeDocument/2006/relationships/hyperlink" Target="https://docs.streamlit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NEXUS — Supply Chain Disruption Intelligence Platform 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Abhiti Rachel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Kannapogu</a:t>
            </a: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829" y="1026532"/>
            <a:ext cx="11604171" cy="558678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Problem</a:t>
            </a:r>
          </a:p>
          <a:p>
            <a:r>
              <a:rPr lang="en-IN" sz="2400" b="0" dirty="0">
                <a:latin typeface="+mn-lt"/>
              </a:rPr>
              <a:t>Supply chains are interconnected dependency networks. </a:t>
            </a:r>
          </a:p>
          <a:p>
            <a:r>
              <a:rPr lang="en-IN" sz="2400" b="0" dirty="0">
                <a:latin typeface="+mn-lt"/>
              </a:rPr>
              <a:t>Disruptions at ports, suppliers or factories can propagate downstream. </a:t>
            </a:r>
          </a:p>
          <a:p>
            <a:r>
              <a:rPr lang="en-IN" sz="2400" b="0" dirty="0">
                <a:latin typeface="+mn-lt"/>
              </a:rPr>
              <a:t>Assessing disruption impact requires information from multiple data sources. 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NEXUS</a:t>
            </a:r>
          </a:p>
          <a:p>
            <a:r>
              <a:rPr lang="en-IN" sz="2400" b="0" dirty="0">
                <a:latin typeface="+mn-lt"/>
              </a:rPr>
              <a:t>Agentic AI platform for end-to-end supply chain disruption assessment. </a:t>
            </a:r>
          </a:p>
          <a:p>
            <a:r>
              <a:rPr lang="en-IN" sz="2400" b="0" dirty="0">
                <a:latin typeface="+mn-lt"/>
              </a:rPr>
              <a:t>Integrates Graph, RAG, SQL, Simulation and Recommendation agents. </a:t>
            </a:r>
          </a:p>
          <a:p>
            <a:r>
              <a:rPr lang="en-IN" sz="2400" b="0" dirty="0">
                <a:latin typeface="+mn-lt"/>
              </a:rPr>
              <a:t>Converts natural-language queries into explainable disruption assessments. </a:t>
            </a:r>
          </a:p>
          <a:p>
            <a:pPr marL="0" indent="0">
              <a:buNone/>
            </a:pPr>
            <a:endParaRPr lang="en-IN" sz="2400" b="0" dirty="0">
              <a:latin typeface="+mn-lt"/>
            </a:endParaRP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Impact → Severity → Urgency → Financial Risk → Action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351903" y="102653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NEXUS — Supply Chain Disruption Intelligence Platform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NEXUS — Supply Chain Disruption Intelligence Platform 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71804" y="1234637"/>
            <a:ext cx="8929397" cy="5206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Trace downstream supply-chain dependencies.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Retrieve relevant operational evidence.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Query structured data using natural language.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Simulate hypothetical disruptions.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Estimate financial value at risk.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Evaluate inventory-based operational urgency.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Generate explainable recommendations.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Key Principle: Severity ≠ Urgency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7721677" cy="5465483"/>
          </a:xfrm>
        </p:spPr>
        <p:txBody>
          <a:bodyPr/>
          <a:lstStyle/>
          <a:p>
            <a:r>
              <a:rPr lang="en-US" sz="2200" b="0" dirty="0">
                <a:latin typeface="+mn-lt"/>
              </a:rPr>
              <a:t>Supervisor </a:t>
            </a:r>
            <a:r>
              <a:rPr lang="en-US" sz="2200" b="0" dirty="0" err="1">
                <a:latin typeface="+mn-lt"/>
              </a:rPr>
              <a:t>Agent:Routes</a:t>
            </a:r>
            <a:r>
              <a:rPr lang="en-US" sz="2200" b="0" dirty="0">
                <a:latin typeface="+mn-lt"/>
              </a:rPr>
              <a:t> each query to the relevant specialist agent(s).</a:t>
            </a:r>
          </a:p>
          <a:p>
            <a:r>
              <a:rPr lang="en-US" sz="2200" b="0" dirty="0">
                <a:latin typeface="+mn-lt"/>
              </a:rPr>
              <a:t>Graph Agent: Traces supply-chain dependencies and assesses severity.</a:t>
            </a:r>
          </a:p>
          <a:p>
            <a:r>
              <a:rPr lang="en-US" sz="2200" b="0" dirty="0">
                <a:latin typeface="+mn-lt"/>
              </a:rPr>
              <a:t>RAG Agent: Retrieves relevant contracts, disruption notices and reports.</a:t>
            </a:r>
          </a:p>
          <a:p>
            <a:r>
              <a:rPr lang="en-US" sz="2200" b="0" dirty="0">
                <a:latin typeface="+mn-lt"/>
              </a:rPr>
              <a:t>SQL Agent: Generates read-only SQL and self-corrects failed queries.</a:t>
            </a:r>
          </a:p>
          <a:p>
            <a:r>
              <a:rPr lang="en-US" sz="2200" b="0" dirty="0">
                <a:latin typeface="+mn-lt"/>
              </a:rPr>
              <a:t>Simulation Agent: Checks inventory buffers and estimates financial exposure.</a:t>
            </a:r>
          </a:p>
          <a:p>
            <a:r>
              <a:rPr lang="en-US" sz="2200" b="0" dirty="0">
                <a:latin typeface="+mn-lt"/>
              </a:rPr>
              <a:t>Recommender: Converts the analysis into an explainable action.</a:t>
            </a:r>
          </a:p>
          <a:p>
            <a:r>
              <a:rPr lang="en-US" sz="2200" b="0" dirty="0">
                <a:latin typeface="+mn-lt"/>
              </a:rPr>
              <a:t>Security: RBAC • Query Filtering • Tamper-Evident Audit Log</a:t>
            </a:r>
          </a:p>
          <a:p>
            <a:pPr marL="457200" lvl="1" indent="0">
              <a:buNone/>
            </a:pPr>
            <a:endParaRPr lang="en-US" dirty="0">
              <a:solidFill>
                <a:srgbClr val="1C3898"/>
              </a:solidFill>
              <a:latin typeface="Calibri bod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Agentic AI Modules</a:t>
            </a:r>
          </a:p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 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119" y="825710"/>
            <a:ext cx="3657917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D9E-9C10-A23A-F504-36B3D851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E23FE6-8D0D-3355-0C6D-060D6FF6F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24308"/>
          </a:xfrm>
        </p:spPr>
        <p:txBody>
          <a:bodyPr numCol="1"/>
          <a:lstStyle/>
          <a:p>
            <a:pPr algn="just"/>
            <a:r>
              <a:rPr lang="en-IN" sz="2000" b="0" dirty="0">
                <a:latin typeface="+mn-lt"/>
              </a:rPr>
              <a:t>Modern supply chains are increasingly vulnerable to disruptions caused by port congestion, supplier failures, transportation delays, and inventory shortages. These disruptions can affect production, delay shipments, and increase operational costs.</a:t>
            </a:r>
          </a:p>
          <a:p>
            <a:pPr algn="just"/>
            <a:r>
              <a:rPr lang="en-IN" sz="2000" b="0" dirty="0">
                <a:latin typeface="+mn-lt"/>
              </a:rPr>
              <a:t>Traditional monitoring approaches often lack an integrated way to connect supply chain dependencies, retrieve supporting evidence, quantify financial risk, and evaluate alternative mitigation strategies.</a:t>
            </a:r>
          </a:p>
          <a:p>
            <a:pPr algn="just"/>
            <a:r>
              <a:rPr lang="en-IN" sz="2000" b="0" dirty="0">
                <a:latin typeface="+mn-lt"/>
              </a:rPr>
              <a:t>NEXUS addresses this challenge by developing an AI-driven, multi-agent platform that </a:t>
            </a:r>
            <a:r>
              <a:rPr lang="en-IN" sz="2000" b="0" dirty="0" err="1">
                <a:latin typeface="+mn-lt"/>
              </a:rPr>
              <a:t>analyzes</a:t>
            </a:r>
            <a:r>
              <a:rPr lang="en-IN" sz="2000" b="0" dirty="0">
                <a:latin typeface="+mn-lt"/>
              </a:rPr>
              <a:t> supply chain disruptions, identifies affected entities, estimates potential losses, and recommends actionable mitigation strategies through graph analysis, RAG, SQL analytics, and what-if simulation.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6FAC9-4938-FCE7-BFAA-30FDB421B02A}"/>
              </a:ext>
            </a:extLst>
          </p:cNvPr>
          <p:cNvSpPr txBox="1"/>
          <p:nvPr/>
        </p:nvSpPr>
        <p:spPr>
          <a:xfrm>
            <a:off x="255996" y="53243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Problem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0DF800-1D1F-2682-A6E9-BA73A61850B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F8340B-0E1A-E564-E041-2EBBCD801757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0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IN" dirty="0"/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8429" y="959434"/>
            <a:ext cx="10624338" cy="5586781"/>
          </a:xfrm>
        </p:spPr>
        <p:txBody>
          <a:bodyPr numCol="1"/>
          <a:lstStyle/>
          <a:p>
            <a:pPr marL="0" indent="0">
              <a:buNone/>
            </a:pPr>
            <a:r>
              <a:rPr lang="en-IN" sz="2100" dirty="0"/>
              <a:t>Agentic Approach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Multi-agent orchestration 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Tool calling </a:t>
            </a:r>
          </a:p>
          <a:p>
            <a:pPr lvl="1"/>
            <a:r>
              <a:rPr lang="en-IN" sz="2100" dirty="0" err="1">
                <a:solidFill>
                  <a:srgbClr val="0070C0"/>
                </a:solidFill>
              </a:rPr>
              <a:t>ReAct</a:t>
            </a:r>
            <a:r>
              <a:rPr lang="en-IN" sz="2100" dirty="0">
                <a:solidFill>
                  <a:srgbClr val="0070C0"/>
                </a:solidFill>
              </a:rPr>
              <a:t> / self-correction 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Cross-agent coordination </a:t>
            </a:r>
          </a:p>
          <a:p>
            <a:pPr marL="0" indent="0">
              <a:buNone/>
            </a:pPr>
            <a:r>
              <a:rPr lang="en-IN" sz="2100" dirty="0"/>
              <a:t>Algorithms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Knowledge Graph Traversal 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TF-IDF + Cosine Similarity 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Natural Language → SQL 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Inventory Buffer Analysis </a:t>
            </a:r>
          </a:p>
          <a:p>
            <a:pPr lvl="1"/>
            <a:r>
              <a:rPr lang="en-IN" sz="2100" dirty="0">
                <a:solidFill>
                  <a:srgbClr val="0070C0"/>
                </a:solidFill>
              </a:rPr>
              <a:t>Financial Risk Estimation </a:t>
            </a:r>
          </a:p>
          <a:p>
            <a:pPr marL="0" indent="0">
              <a:buNone/>
            </a:pPr>
            <a:r>
              <a:rPr lang="en-IN" sz="2100" dirty="0"/>
              <a:t>Technology</a:t>
            </a:r>
          </a:p>
          <a:p>
            <a:pPr marL="457200" lvl="1" indent="0">
              <a:buNone/>
            </a:pPr>
            <a:r>
              <a:rPr lang="en-IN" sz="2100" dirty="0">
                <a:solidFill>
                  <a:srgbClr val="0070C0"/>
                </a:solidFill>
              </a:rPr>
              <a:t>Python | </a:t>
            </a:r>
            <a:r>
              <a:rPr lang="en-IN" sz="2100" dirty="0" err="1">
                <a:solidFill>
                  <a:srgbClr val="0070C0"/>
                </a:solidFill>
              </a:rPr>
              <a:t>FastAPI</a:t>
            </a:r>
            <a:r>
              <a:rPr lang="en-IN" sz="2100" dirty="0">
                <a:solidFill>
                  <a:srgbClr val="0070C0"/>
                </a:solidFill>
              </a:rPr>
              <a:t> | Streamlit | SQLite | JSON</a:t>
            </a:r>
          </a:p>
          <a:p>
            <a:pPr marL="0" indent="0">
              <a:buNone/>
            </a:pPr>
            <a:r>
              <a:rPr lang="en-IN" sz="2100" dirty="0"/>
              <a:t>Security</a:t>
            </a:r>
            <a:endParaRPr lang="en-IN" sz="2100" b="0" dirty="0"/>
          </a:p>
          <a:p>
            <a:pPr marL="0" indent="0">
              <a:buNone/>
            </a:pPr>
            <a:r>
              <a:rPr lang="en-IN" sz="2100" b="0" dirty="0"/>
              <a:t>	RBAC | Query Filtering | Hash-Chained Audit Log</a:t>
            </a:r>
          </a:p>
          <a:p>
            <a:pPr marL="0" indent="0"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33403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55996" y="980365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995097"/>
            <a:ext cx="10624338" cy="5568097"/>
          </a:xfrm>
        </p:spPr>
        <p:txBody>
          <a:bodyPr numCol="1"/>
          <a:lstStyle/>
          <a:p>
            <a:pPr lvl="0"/>
            <a:r>
              <a:rPr lang="en-IN" sz="2000" dirty="0">
                <a:latin typeface="+mn-lt"/>
              </a:rPr>
              <a:t>Graph Analysis: </a:t>
            </a:r>
            <a:r>
              <a:rPr lang="en-IN" sz="2000" b="0" dirty="0">
                <a:latin typeface="+mn-lt"/>
              </a:rPr>
              <a:t>Achieved 100% accuracy across 8 disruption scenarios, identifying affected supply chain entities.</a:t>
            </a:r>
          </a:p>
          <a:p>
            <a:pPr lvl="0"/>
            <a:r>
              <a:rPr lang="en-IN" sz="2000" dirty="0">
                <a:latin typeface="+mn-lt"/>
              </a:rPr>
              <a:t>RAG Performance: </a:t>
            </a:r>
            <a:r>
              <a:rPr lang="en-IN" sz="2000" b="0" dirty="0">
                <a:latin typeface="+mn-lt"/>
              </a:rPr>
              <a:t>Achieved 100% Precision@1 (5/5) with document-type hints.</a:t>
            </a:r>
          </a:p>
          <a:p>
            <a:pPr lvl="0"/>
            <a:r>
              <a:rPr lang="en-IN" sz="2000" dirty="0">
                <a:latin typeface="+mn-lt"/>
              </a:rPr>
              <a:t>Agent Orchestration: </a:t>
            </a:r>
            <a:r>
              <a:rPr lang="en-IN" sz="2000" b="0" dirty="0">
                <a:latin typeface="+mn-lt"/>
              </a:rPr>
              <a:t>Standard supervisor routing achieved 100% accuracy (11/11).</a:t>
            </a:r>
          </a:p>
          <a:p>
            <a:pPr lvl="0"/>
            <a:r>
              <a:rPr lang="en-IN" sz="2000" dirty="0">
                <a:latin typeface="+mn-lt"/>
              </a:rPr>
              <a:t>SQL Safety</a:t>
            </a:r>
            <a:r>
              <a:rPr lang="en-IN" sz="2000" b="0" dirty="0">
                <a:latin typeface="+mn-lt"/>
              </a:rPr>
              <a:t>: Successfully blocked all 10 malicious SQL test cases and passed 3/3 offline self-correction tests.</a:t>
            </a:r>
          </a:p>
          <a:p>
            <a:pPr lvl="0"/>
            <a:r>
              <a:rPr lang="en-IN" sz="2000" dirty="0">
                <a:latin typeface="+mn-lt"/>
              </a:rPr>
              <a:t>Risk Simulation: </a:t>
            </a:r>
            <a:r>
              <a:rPr lang="en-IN" sz="2000" b="0" dirty="0">
                <a:latin typeface="+mn-lt"/>
              </a:rPr>
              <a:t>Evaluated disruption scenarios, estimated financial exposure, assessed inventory buffers, and generated mitigation recommendations</a:t>
            </a:r>
            <a:r>
              <a:rPr lang="en-IN" sz="2000" dirty="0">
                <a:latin typeface="+mn-lt"/>
              </a:rPr>
              <a:t>.</a:t>
            </a:r>
          </a:p>
          <a:p>
            <a:pPr lvl="0"/>
            <a:r>
              <a:rPr lang="en-IN" sz="2000" dirty="0">
                <a:latin typeface="+mn-lt"/>
              </a:rPr>
              <a:t>Security and Audit: </a:t>
            </a:r>
            <a:r>
              <a:rPr lang="en-IN" sz="2000" b="0" dirty="0">
                <a:latin typeface="+mn-lt"/>
              </a:rPr>
              <a:t>Passed all 12 RBAC permission tests and 4 audit-log integrity tests.</a:t>
            </a:r>
          </a:p>
          <a:p>
            <a:pPr lvl="0"/>
            <a:r>
              <a:rPr lang="en-IN" sz="2000" dirty="0">
                <a:latin typeface="+mn-lt"/>
              </a:rPr>
              <a:t>System Validation: </a:t>
            </a:r>
            <a:r>
              <a:rPr lang="en-IN" sz="2000" b="0" dirty="0">
                <a:latin typeface="+mn-lt"/>
              </a:rPr>
              <a:t>All 78 automated tests passed, and the platform was deployed on Google Cloud Run.</a:t>
            </a: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Demonstration Result: </a:t>
            </a:r>
            <a:r>
              <a:rPr lang="en-IN" sz="2000" b="0" dirty="0">
                <a:latin typeface="+mn-lt"/>
              </a:rPr>
              <a:t>An 86-day Keelung port disruption was classified as HIGH severity, with approximately $1.79 million in estimated value at risk and three factories exhausting their inventory buffers.</a:t>
            </a: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Areas for Improvement: </a:t>
            </a:r>
            <a:r>
              <a:rPr lang="en-IN" sz="2000" b="0" dirty="0">
                <a:latin typeface="+mn-lt"/>
              </a:rPr>
              <a:t>Paraphrased query routing, live SQL numeric accuracy, and paraphrased prompt-injection detection require further enhancement.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21274" y="29479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55996" y="96811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0533F-BC20-FA4B-4117-D43A9F14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2318B8-E4BC-9ABA-163A-FF7EE02952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966846"/>
            <a:ext cx="10624338" cy="4924308"/>
          </a:xfrm>
        </p:spPr>
        <p:txBody>
          <a:bodyPr numCol="1"/>
          <a:lstStyle/>
          <a:p>
            <a:pPr lvl="0"/>
            <a:r>
              <a:rPr lang="en-IN" sz="1800" b="0" dirty="0">
                <a:latin typeface="+mn-lt"/>
              </a:rPr>
              <a:t>NEXUS demonstrates an integrated approach to supply chain disruption intelligence by combining graph analysis, retrieval-augmented generation (RAG), SQL analytics, and what-if simulation.</a:t>
            </a:r>
          </a:p>
          <a:p>
            <a:pPr lvl="0"/>
            <a:r>
              <a:rPr lang="en-IN" sz="1800" b="0" dirty="0">
                <a:latin typeface="+mn-lt"/>
              </a:rPr>
              <a:t>The platform transforms disruption-related queries into impact assessments, evidence retrieval, financial-risk estimates, and actionable mitigation recommendations.</a:t>
            </a:r>
          </a:p>
          <a:p>
            <a:pPr lvl="0"/>
            <a:r>
              <a:rPr lang="en-IN" sz="1800" b="0" dirty="0">
                <a:latin typeface="+mn-lt"/>
              </a:rPr>
              <a:t>Role-based access control, SQL safeguards, and hash-chain audit logging provide security and traceability mechanisms.</a:t>
            </a:r>
          </a:p>
          <a:p>
            <a:pPr lvl="0"/>
            <a:r>
              <a:rPr lang="en-IN" sz="1800" b="0" dirty="0">
                <a:latin typeface="+mn-lt"/>
              </a:rPr>
              <a:t>Cloud deployment and automated testing demonstrate the feasibility of running the platform as an accessible application.</a:t>
            </a:r>
          </a:p>
          <a:p>
            <a:pPr lvl="0"/>
            <a:r>
              <a:rPr lang="en-IN" sz="1800" b="0" dirty="0">
                <a:latin typeface="+mn-lt"/>
              </a:rPr>
              <a:t>Benchmark results demonstrate strong performance in several core functions while </a:t>
            </a:r>
            <a:r>
              <a:rPr lang="en-IN" sz="2000" b="0" dirty="0"/>
              <a:t>highlighting opportunities to improve paraphrased query </a:t>
            </a:r>
            <a:r>
              <a:rPr lang="en-IN" sz="1800" b="0" dirty="0">
                <a:latin typeface="+mn-lt"/>
              </a:rPr>
              <a:t>handling, live SQL accuracy, and prompt-injection detection.</a:t>
            </a:r>
          </a:p>
          <a:p>
            <a:pPr marL="0" indent="0">
              <a:buNone/>
            </a:pPr>
            <a:r>
              <a:rPr lang="en-IN" sz="1800" dirty="0">
                <a:latin typeface="+mn-lt"/>
              </a:rPr>
              <a:t>Future Scope</a:t>
            </a:r>
          </a:p>
          <a:p>
            <a:pPr lvl="0"/>
            <a:r>
              <a:rPr lang="en-IN" sz="1800" b="0" dirty="0">
                <a:latin typeface="+mn-lt"/>
              </a:rPr>
              <a:t>Improve semantic query understanding and robustness against paraphrased prompts.</a:t>
            </a:r>
          </a:p>
          <a:p>
            <a:pPr lvl="0"/>
            <a:r>
              <a:rPr lang="en-IN" sz="1800" b="0" dirty="0">
                <a:latin typeface="+mn-lt"/>
              </a:rPr>
              <a:t>Enhance live SQL generation and numeric accuracy.</a:t>
            </a:r>
          </a:p>
          <a:p>
            <a:pPr lvl="0"/>
            <a:r>
              <a:rPr lang="en-IN" sz="1800" b="0" dirty="0">
                <a:latin typeface="+mn-lt"/>
              </a:rPr>
              <a:t>Strengthen prompt-injection detection and expand evaluation datasets.</a:t>
            </a:r>
          </a:p>
          <a:p>
            <a:pPr lvl="0"/>
            <a:r>
              <a:rPr lang="en-IN" sz="1800" b="0" dirty="0">
                <a:latin typeface="+mn-lt"/>
              </a:rPr>
              <a:t>Integrate real-time supply chain data and more advanced graph-based analytics.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675B5-16AE-09A1-BBDF-56B0F68AD72F}"/>
              </a:ext>
            </a:extLst>
          </p:cNvPr>
          <p:cNvSpPr txBox="1"/>
          <p:nvPr/>
        </p:nvSpPr>
        <p:spPr>
          <a:xfrm>
            <a:off x="255996" y="229188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18175F-39E7-B0AD-0627-10626EB5F689}"/>
              </a:ext>
            </a:extLst>
          </p:cNvPr>
          <p:cNvCxnSpPr>
            <a:cxnSpLocks/>
          </p:cNvCxnSpPr>
          <p:nvPr/>
        </p:nvCxnSpPr>
        <p:spPr>
          <a:xfrm>
            <a:off x="255996" y="87551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0C89D7-D4B3-414E-2812-F61D2EB288B4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1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7961-7469-8668-A4C2-72F4443B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DEBA2A-0C55-C092-6A48-DCF159CEC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24308"/>
          </a:xfrm>
        </p:spPr>
        <p:txBody>
          <a:bodyPr numCol="2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5583D1"/>
                </a:solidFill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014DD-2261-DE06-D973-2798B9E93C41}"/>
              </a:ext>
            </a:extLst>
          </p:cNvPr>
          <p:cNvSpPr txBox="1"/>
          <p:nvPr/>
        </p:nvSpPr>
        <p:spPr>
          <a:xfrm>
            <a:off x="255996" y="53243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C1152C-60C5-6163-245F-5029D7AA5BB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D5FBA7-01E8-3171-9FCE-A2C4A2CE07C1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91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34C77-C113-2258-EA8F-3FDC8AA7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4E8362-DFB5-C857-627F-530E3822FD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24308"/>
          </a:xfrm>
        </p:spPr>
        <p:txBody>
          <a:bodyPr numCol="1"/>
          <a:lstStyle/>
          <a:p>
            <a:pPr lvl="0"/>
            <a:r>
              <a:rPr lang="en-IN" sz="2000" b="0" dirty="0">
                <a:latin typeface="+mn-lt"/>
              </a:rPr>
              <a:t>Lewis, P. et al. (2020). </a:t>
            </a:r>
            <a:r>
              <a:rPr lang="en-IN" sz="2000" b="0" i="1" dirty="0">
                <a:latin typeface="+mn-lt"/>
              </a:rPr>
              <a:t>Retrieval-Augmented Generation for Knowledge-Intensive NLP Tasks.</a:t>
            </a:r>
            <a:r>
              <a:rPr lang="en-IN" sz="2000" b="0" dirty="0">
                <a:latin typeface="+mn-lt"/>
              </a:rPr>
              <a:t> Advances in Neural Information Processing Systems (</a:t>
            </a:r>
            <a:r>
              <a:rPr lang="en-IN" sz="2000" b="0" dirty="0" err="1">
                <a:latin typeface="+mn-lt"/>
              </a:rPr>
              <a:t>NeurIPS</a:t>
            </a:r>
            <a:r>
              <a:rPr lang="en-IN" sz="2000" b="0" dirty="0">
                <a:latin typeface="+mn-lt"/>
              </a:rPr>
              <a:t>).</a:t>
            </a:r>
          </a:p>
          <a:p>
            <a:pPr lvl="0"/>
            <a:r>
              <a:rPr lang="en-IN" sz="2000" b="0" dirty="0">
                <a:latin typeface="+mn-lt"/>
              </a:rPr>
              <a:t>Yao, S. et al. (2023). </a:t>
            </a:r>
            <a:r>
              <a:rPr lang="en-IN" sz="2000" b="0" i="1" dirty="0" err="1">
                <a:latin typeface="+mn-lt"/>
              </a:rPr>
              <a:t>ReAct</a:t>
            </a:r>
            <a:r>
              <a:rPr lang="en-IN" sz="2000" b="0" i="1" dirty="0">
                <a:latin typeface="+mn-lt"/>
              </a:rPr>
              <a:t>: Synergizing Reasoning and Acting in Language Models.</a:t>
            </a:r>
            <a:r>
              <a:rPr lang="en-IN" sz="2000" b="0" dirty="0">
                <a:latin typeface="+mn-lt"/>
              </a:rPr>
              <a:t> International Conference on Learning Representations (ICLR).</a:t>
            </a:r>
          </a:p>
          <a:p>
            <a:pPr lvl="0"/>
            <a:r>
              <a:rPr lang="en-IN" sz="2000" b="0" dirty="0" err="1">
                <a:latin typeface="+mn-lt"/>
              </a:rPr>
              <a:t>LangChain</a:t>
            </a:r>
            <a:r>
              <a:rPr lang="en-IN" sz="2000" b="0" dirty="0">
                <a:latin typeface="+mn-lt"/>
              </a:rPr>
              <a:t>. </a:t>
            </a:r>
            <a:r>
              <a:rPr lang="en-IN" sz="2000" b="0" i="1" dirty="0" err="1">
                <a:latin typeface="+mn-lt"/>
              </a:rPr>
              <a:t>LangGraph</a:t>
            </a:r>
            <a:r>
              <a:rPr lang="en-IN" sz="2000" b="0" i="1" dirty="0">
                <a:latin typeface="+mn-lt"/>
              </a:rPr>
              <a:t> Documentation.</a:t>
            </a:r>
            <a:r>
              <a:rPr lang="en-IN" sz="2000" b="0" dirty="0">
                <a:latin typeface="+mn-lt"/>
              </a:rPr>
              <a:t> </a:t>
            </a:r>
            <a:r>
              <a:rPr lang="en-IN" sz="2000" b="0" dirty="0">
                <a:latin typeface="+mn-lt"/>
                <a:hlinkClick r:id="rId2"/>
              </a:rPr>
              <a:t>https://docs.langchain.com/oss/python/langgraph/overview</a:t>
            </a:r>
            <a:endParaRPr lang="en-IN" sz="2000" b="0" dirty="0">
              <a:latin typeface="+mn-lt"/>
            </a:endParaRPr>
          </a:p>
          <a:p>
            <a:pPr lvl="0"/>
            <a:r>
              <a:rPr lang="en-IN" sz="2000" b="0" dirty="0" err="1">
                <a:latin typeface="+mn-lt"/>
              </a:rPr>
              <a:t>FastAPI</a:t>
            </a:r>
            <a:r>
              <a:rPr lang="en-IN" sz="2000" b="0" dirty="0">
                <a:latin typeface="+mn-lt"/>
              </a:rPr>
              <a:t>. </a:t>
            </a:r>
            <a:r>
              <a:rPr lang="en-IN" sz="2000" b="0" i="1" dirty="0" err="1">
                <a:latin typeface="+mn-lt"/>
              </a:rPr>
              <a:t>FastAPI</a:t>
            </a:r>
            <a:r>
              <a:rPr lang="en-IN" sz="2000" b="0" i="1" dirty="0">
                <a:latin typeface="+mn-lt"/>
              </a:rPr>
              <a:t> Documentation.</a:t>
            </a:r>
            <a:r>
              <a:rPr lang="en-IN" sz="2000" b="0" dirty="0">
                <a:latin typeface="+mn-lt"/>
              </a:rPr>
              <a:t> </a:t>
            </a:r>
            <a:r>
              <a:rPr lang="en-IN" sz="2000" b="0" dirty="0">
                <a:latin typeface="+mn-lt"/>
                <a:hlinkClick r:id="rId3"/>
              </a:rPr>
              <a:t>https://fastapi.tiangolo.com/</a:t>
            </a:r>
            <a:endParaRPr lang="en-IN" sz="2000" b="0" dirty="0">
              <a:latin typeface="+mn-lt"/>
            </a:endParaRPr>
          </a:p>
          <a:p>
            <a:pPr lvl="0"/>
            <a:r>
              <a:rPr lang="en-IN" sz="2000" b="0" dirty="0" err="1">
                <a:latin typeface="+mn-lt"/>
              </a:rPr>
              <a:t>Streamlit</a:t>
            </a:r>
            <a:r>
              <a:rPr lang="en-IN" sz="2000" b="0" dirty="0">
                <a:latin typeface="+mn-lt"/>
              </a:rPr>
              <a:t>. </a:t>
            </a:r>
            <a:r>
              <a:rPr lang="en-IN" sz="2000" b="0" i="1" dirty="0" err="1">
                <a:latin typeface="+mn-lt"/>
              </a:rPr>
              <a:t>Streamlit</a:t>
            </a:r>
            <a:r>
              <a:rPr lang="en-IN" sz="2000" b="0" i="1" dirty="0">
                <a:latin typeface="+mn-lt"/>
              </a:rPr>
              <a:t> Documentation.</a:t>
            </a:r>
            <a:r>
              <a:rPr lang="en-IN" sz="2000" b="0" dirty="0">
                <a:latin typeface="+mn-lt"/>
              </a:rPr>
              <a:t> </a:t>
            </a:r>
            <a:r>
              <a:rPr lang="en-IN" sz="2000" b="0" dirty="0">
                <a:latin typeface="+mn-lt"/>
                <a:hlinkClick r:id="rId4"/>
              </a:rPr>
              <a:t>https://docs.streamlit.io/</a:t>
            </a:r>
            <a:endParaRPr lang="en-IN" sz="2000" b="0" dirty="0">
              <a:latin typeface="+mn-lt"/>
            </a:endParaRPr>
          </a:p>
          <a:p>
            <a:pPr lvl="0"/>
            <a:r>
              <a:rPr lang="en-IN" sz="2000" b="0" dirty="0">
                <a:latin typeface="+mn-lt"/>
              </a:rPr>
              <a:t>Google Cloud. </a:t>
            </a:r>
            <a:r>
              <a:rPr lang="en-IN" sz="2000" b="0" i="1" dirty="0">
                <a:latin typeface="+mn-lt"/>
              </a:rPr>
              <a:t>Cloud Run Documentation.</a:t>
            </a:r>
            <a:r>
              <a:rPr lang="en-IN" sz="2000" b="0" dirty="0">
                <a:latin typeface="+mn-lt"/>
              </a:rPr>
              <a:t> </a:t>
            </a:r>
            <a:r>
              <a:rPr lang="en-IN" sz="2000" b="0" dirty="0">
                <a:latin typeface="+mn-lt"/>
                <a:hlinkClick r:id="rId5"/>
              </a:rPr>
              <a:t>https://cloud.google.com/run/docs</a:t>
            </a:r>
            <a:endParaRPr lang="en-IN" sz="2000" b="0" dirty="0">
              <a:latin typeface="+mn-lt"/>
            </a:endParaRPr>
          </a:p>
          <a:p>
            <a:pPr lvl="0"/>
            <a:r>
              <a:rPr lang="en-IN" sz="2000" b="0" dirty="0">
                <a:latin typeface="+mn-lt"/>
              </a:rPr>
              <a:t>scikit-learn. </a:t>
            </a:r>
            <a:r>
              <a:rPr lang="en-IN" sz="2000" b="0" i="1" dirty="0">
                <a:latin typeface="+mn-lt"/>
              </a:rPr>
              <a:t>User Guide.</a:t>
            </a:r>
            <a:r>
              <a:rPr lang="en-IN" sz="2000" b="0" dirty="0">
                <a:latin typeface="+mn-lt"/>
              </a:rPr>
              <a:t> </a:t>
            </a:r>
            <a:r>
              <a:rPr lang="en-IN" sz="2000" b="0" dirty="0">
                <a:latin typeface="+mn-lt"/>
                <a:hlinkClick r:id="rId6"/>
              </a:rPr>
              <a:t>https://scikit-learn.org/stable/user_guide.html</a:t>
            </a:r>
            <a:endParaRPr lang="en-IN" sz="2000" b="0" dirty="0">
              <a:latin typeface="+mn-lt"/>
            </a:endParaRPr>
          </a:p>
          <a:p>
            <a:pPr lvl="0"/>
            <a:r>
              <a:rPr lang="en-IN" sz="2000" b="0" dirty="0" err="1">
                <a:latin typeface="+mn-lt"/>
              </a:rPr>
              <a:t>PyJWT</a:t>
            </a:r>
            <a:r>
              <a:rPr lang="en-IN" sz="2000" b="0" dirty="0">
                <a:latin typeface="+mn-lt"/>
              </a:rPr>
              <a:t>. </a:t>
            </a:r>
            <a:r>
              <a:rPr lang="en-IN" sz="2000" b="0" i="1" dirty="0" err="1">
                <a:latin typeface="+mn-lt"/>
              </a:rPr>
              <a:t>PyJWT</a:t>
            </a:r>
            <a:r>
              <a:rPr lang="en-IN" sz="2000" b="0" i="1" dirty="0">
                <a:latin typeface="+mn-lt"/>
              </a:rPr>
              <a:t> Documentation.</a:t>
            </a:r>
            <a:r>
              <a:rPr lang="en-IN" sz="2000" b="0" dirty="0">
                <a:latin typeface="+mn-lt"/>
              </a:rPr>
              <a:t> </a:t>
            </a:r>
            <a:r>
              <a:rPr lang="en-IN" sz="2000" b="0" dirty="0">
                <a:latin typeface="+mn-lt"/>
                <a:hlinkClick r:id="rId7"/>
              </a:rPr>
              <a:t>https://pyjwt.readthedocs.io/</a:t>
            </a:r>
            <a:endParaRPr lang="en-IN" sz="2000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842B9-2389-6BBF-074F-9376B814B438}"/>
              </a:ext>
            </a:extLst>
          </p:cNvPr>
          <p:cNvSpPr txBox="1"/>
          <p:nvPr/>
        </p:nvSpPr>
        <p:spPr>
          <a:xfrm>
            <a:off x="255996" y="53243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2742C5-264A-6D59-BFEE-030C16E6C34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A30D6DC-732D-1601-654D-A417AD45D385}"/>
              </a:ext>
            </a:extLst>
          </p:cNvPr>
          <p:cNvSpPr txBox="1"/>
          <p:nvPr/>
        </p:nvSpPr>
        <p:spPr>
          <a:xfrm>
            <a:off x="6093893" y="57036"/>
            <a:ext cx="6098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NEXUS — Supply Chain Disruption Intelligence Platform 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508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948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(Body)</vt:lpstr>
      <vt:lpstr>Calibri body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Abhiti Rachel Kannapogu</cp:lastModifiedBy>
  <cp:revision>25</cp:revision>
  <dcterms:created xsi:type="dcterms:W3CDTF">2024-05-13T10:33:11Z</dcterms:created>
  <dcterms:modified xsi:type="dcterms:W3CDTF">2026-10-12T06:45:02Z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